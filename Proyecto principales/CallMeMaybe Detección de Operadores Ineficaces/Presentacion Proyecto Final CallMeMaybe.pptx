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D5E1"/>
    <a:srgbClr val="16213E"/>
    <a:srgbClr val="20315A"/>
    <a:srgbClr val="273C6F"/>
    <a:srgbClr val="8DB4E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93955" autoAdjust="0"/>
  </p:normalViewPr>
  <p:slideViewPr>
    <p:cSldViewPr snapToGrid="0" snapToObjects="1">
      <p:cViewPr varScale="1">
        <p:scale>
          <a:sx n="65" d="100"/>
          <a:sy n="65" d="100"/>
        </p:scale>
        <p:origin x="692"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29033F-7FD2-44F7-925D-DA266AF6B26D}" type="datetimeFigureOut">
              <a:rPr lang="es-MX" smtClean="0"/>
              <a:t>18/08/2026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3FA65-FD56-49A3-ADB4-92E75B34C1CF}" type="slidenum">
              <a:rPr lang="es-MX" smtClean="0"/>
              <a:t>‹Nº›</a:t>
            </a:fld>
            <a:endParaRPr lang="es-MX"/>
          </a:p>
        </p:txBody>
      </p:sp>
    </p:spTree>
    <p:extLst>
      <p:ext uri="{BB962C8B-B14F-4D97-AF65-F5344CB8AC3E}">
        <p14:creationId xmlns:p14="http://schemas.microsoft.com/office/powerpoint/2010/main" val="4056944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E183FA65-FD56-49A3-ADB4-92E75B34C1CF}" type="slidenum">
              <a:rPr lang="es-MX" smtClean="0"/>
              <a:t>5</a:t>
            </a:fld>
            <a:endParaRPr lang="es-MX"/>
          </a:p>
        </p:txBody>
      </p:sp>
    </p:spTree>
    <p:extLst>
      <p:ext uri="{BB962C8B-B14F-4D97-AF65-F5344CB8AC3E}">
        <p14:creationId xmlns:p14="http://schemas.microsoft.com/office/powerpoint/2010/main" val="590592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6213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94360"/>
            <a:ext cx="10007868" cy="1200329"/>
          </a:xfrm>
          <a:prstGeom prst="rect">
            <a:avLst/>
          </a:prstGeom>
          <a:noFill/>
        </p:spPr>
        <p:txBody>
          <a:bodyPr wrap="none">
            <a:spAutoFit/>
          </a:bodyPr>
          <a:lstStyle/>
          <a:p>
            <a:pPr algn="l"/>
            <a:r>
              <a:rPr sz="3600" b="1" i="1" dirty="0">
                <a:solidFill>
                  <a:srgbClr val="FFFFFF"/>
                </a:solidFill>
                <a:latin typeface="Arial"/>
              </a:rPr>
              <a:t>DETECCIÓN DE OPERADORES INEFICACES</a:t>
            </a:r>
            <a:endParaRPr lang="es-MX" sz="3600" b="1" i="1" dirty="0">
              <a:solidFill>
                <a:srgbClr val="FFFFFF"/>
              </a:solidFill>
              <a:latin typeface="Arial"/>
            </a:endParaRPr>
          </a:p>
          <a:p>
            <a:pPr algn="l"/>
            <a:r>
              <a:rPr sz="3600" b="1" i="1" dirty="0">
                <a:solidFill>
                  <a:srgbClr val="FFFFFF"/>
                </a:solidFill>
                <a:latin typeface="Arial"/>
              </a:rPr>
              <a:t>CALLMEMAYBE</a:t>
            </a:r>
          </a:p>
        </p:txBody>
      </p:sp>
      <p:sp>
        <p:nvSpPr>
          <p:cNvPr id="3" name="TextBox 2"/>
          <p:cNvSpPr txBox="1"/>
          <p:nvPr/>
        </p:nvSpPr>
        <p:spPr>
          <a:xfrm>
            <a:off x="777241" y="2146738"/>
            <a:ext cx="4950898" cy="3354765"/>
          </a:xfrm>
          <a:prstGeom prst="rect">
            <a:avLst/>
          </a:prstGeom>
          <a:noFill/>
        </p:spPr>
        <p:txBody>
          <a:bodyPr wrap="square">
            <a:spAutoFit/>
          </a:bodyPr>
          <a:lstStyle/>
          <a:p>
            <a:pPr marL="360000" indent="-360000" algn="l">
              <a:lnSpc>
                <a:spcPct val="200000"/>
              </a:lnSpc>
              <a:spcAft>
                <a:spcPts val="600"/>
              </a:spcAft>
              <a:buFont typeface="Arial" panose="020B0604020202020204" pitchFamily="34" charset="0"/>
              <a:buChar char="•"/>
            </a:pPr>
            <a:r>
              <a:rPr sz="2400" b="1" i="1" dirty="0" err="1">
                <a:solidFill>
                  <a:srgbClr val="CBD5E1"/>
                </a:solidFill>
              </a:rPr>
              <a:t>Análisis</a:t>
            </a:r>
            <a:r>
              <a:rPr sz="2400" b="1" i="1" dirty="0">
                <a:solidFill>
                  <a:srgbClr val="CBD5E1"/>
                </a:solidFill>
              </a:rPr>
              <a:t> </a:t>
            </a:r>
            <a:r>
              <a:rPr sz="2400" b="1" i="1" dirty="0" err="1">
                <a:solidFill>
                  <a:srgbClr val="CBD5E1"/>
                </a:solidFill>
              </a:rPr>
              <a:t>exploratorio</a:t>
            </a:r>
            <a:endParaRPr lang="es-MX" sz="2400" b="1" i="1" dirty="0">
              <a:solidFill>
                <a:srgbClr val="CBD5E1"/>
              </a:solidFill>
            </a:endParaRPr>
          </a:p>
          <a:p>
            <a:pPr marL="360000" indent="-360000" algn="l">
              <a:spcAft>
                <a:spcPts val="600"/>
              </a:spcAft>
              <a:buFont typeface="Arial" panose="020B0604020202020204" pitchFamily="34" charset="0"/>
              <a:buChar char="•"/>
            </a:pPr>
            <a:r>
              <a:rPr lang="es-MX" sz="2400" b="1" i="1" dirty="0">
                <a:solidFill>
                  <a:srgbClr val="CBD5E1"/>
                </a:solidFill>
              </a:rPr>
              <a:t>E</a:t>
            </a:r>
            <a:r>
              <a:rPr sz="2400" b="1" i="1" dirty="0" err="1">
                <a:solidFill>
                  <a:srgbClr val="CBD5E1"/>
                </a:solidFill>
              </a:rPr>
              <a:t>valuación</a:t>
            </a:r>
            <a:r>
              <a:rPr sz="2400" b="1" i="1" dirty="0">
                <a:solidFill>
                  <a:srgbClr val="CBD5E1"/>
                </a:solidFill>
              </a:rPr>
              <a:t> de desempeño</a:t>
            </a:r>
            <a:r>
              <a:rPr lang="es-MX" sz="2400" b="1" i="1" dirty="0">
                <a:solidFill>
                  <a:srgbClr val="CBD5E1"/>
                </a:solidFill>
              </a:rPr>
              <a:t> e identificación de operadores ineficaces</a:t>
            </a:r>
          </a:p>
          <a:p>
            <a:pPr marL="360000" indent="-360000" algn="l">
              <a:spcAft>
                <a:spcPts val="600"/>
              </a:spcAft>
              <a:buFont typeface="Arial" panose="020B0604020202020204" pitchFamily="34" charset="0"/>
              <a:buChar char="•"/>
            </a:pPr>
            <a:r>
              <a:rPr lang="es-MX" sz="2400" b="1" i="1" dirty="0">
                <a:solidFill>
                  <a:srgbClr val="CBD5E1"/>
                </a:solidFill>
              </a:rPr>
              <a:t>C</a:t>
            </a:r>
            <a:r>
              <a:rPr sz="2400" b="1" i="1" dirty="0" err="1">
                <a:solidFill>
                  <a:srgbClr val="CBD5E1"/>
                </a:solidFill>
              </a:rPr>
              <a:t>omparación</a:t>
            </a:r>
            <a:r>
              <a:rPr sz="2400" b="1" i="1" dirty="0">
                <a:solidFill>
                  <a:srgbClr val="CBD5E1"/>
                </a:solidFill>
              </a:rPr>
              <a:t> </a:t>
            </a:r>
            <a:r>
              <a:rPr sz="2400" b="1" i="1" dirty="0" err="1">
                <a:solidFill>
                  <a:srgbClr val="CBD5E1"/>
                </a:solidFill>
              </a:rPr>
              <a:t>estadística</a:t>
            </a:r>
            <a:r>
              <a:rPr lang="es-MX" sz="2400" b="1" i="1" dirty="0">
                <a:solidFill>
                  <a:srgbClr val="CBD5E1"/>
                </a:solidFill>
              </a:rPr>
              <a:t>.</a:t>
            </a:r>
          </a:p>
          <a:p>
            <a:pPr marL="360000" indent="-360000" algn="l">
              <a:spcAft>
                <a:spcPts val="600"/>
              </a:spcAft>
              <a:buFont typeface="Arial" panose="020B0604020202020204" pitchFamily="34" charset="0"/>
              <a:buChar char="•"/>
            </a:pPr>
            <a:r>
              <a:rPr lang="es-MX" sz="2400" b="1" i="1" dirty="0">
                <a:solidFill>
                  <a:srgbClr val="CBD5E1"/>
                </a:solidFill>
              </a:rPr>
              <a:t>Identificación de </a:t>
            </a:r>
            <a:r>
              <a:rPr lang="es-MX" sz="2400" b="1" i="1" dirty="0" err="1">
                <a:solidFill>
                  <a:srgbClr val="CBD5E1"/>
                </a:solidFill>
              </a:rPr>
              <a:t>Insights</a:t>
            </a:r>
            <a:endParaRPr lang="es-MX" sz="2400" b="1" i="1" dirty="0">
              <a:solidFill>
                <a:srgbClr val="CBD5E1"/>
              </a:solidFill>
            </a:endParaRPr>
          </a:p>
          <a:p>
            <a:pPr marL="360000" indent="-360000" algn="l">
              <a:spcAft>
                <a:spcPts val="600"/>
              </a:spcAft>
              <a:buFont typeface="Arial" panose="020B0604020202020204" pitchFamily="34" charset="0"/>
              <a:buChar char="•"/>
            </a:pPr>
            <a:r>
              <a:rPr lang="es-MX" sz="2400" b="1" i="1" dirty="0" err="1">
                <a:solidFill>
                  <a:srgbClr val="CBD5E1"/>
                </a:solidFill>
              </a:rPr>
              <a:t>DashBoard</a:t>
            </a:r>
            <a:r>
              <a:rPr lang="es-MX" sz="2400" b="1" i="1" dirty="0">
                <a:solidFill>
                  <a:srgbClr val="CBD5E1"/>
                </a:solidFill>
              </a:rPr>
              <a:t> interactivo</a:t>
            </a:r>
          </a:p>
        </p:txBody>
      </p:sp>
      <p:sp>
        <p:nvSpPr>
          <p:cNvPr id="4" name="TextBox 3"/>
          <p:cNvSpPr txBox="1"/>
          <p:nvPr/>
        </p:nvSpPr>
        <p:spPr>
          <a:xfrm>
            <a:off x="10972800" y="6446520"/>
            <a:ext cx="548640" cy="228600"/>
          </a:xfrm>
          <a:prstGeom prst="rect">
            <a:avLst/>
          </a:prstGeom>
          <a:noFill/>
        </p:spPr>
        <p:txBody>
          <a:bodyPr wrap="none">
            <a:spAutoFit/>
          </a:bodyPr>
          <a:lstStyle/>
          <a:p>
            <a:pPr algn="r"/>
            <a:r>
              <a:rPr sz="900" b="0">
                <a:solidFill>
                  <a:srgbClr val="94A3B8"/>
                </a:solidFill>
                <a:latin typeface="Arial"/>
              </a:rPr>
              <a:t>1/8</a:t>
            </a:r>
          </a:p>
        </p:txBody>
      </p:sp>
      <p:sp>
        <p:nvSpPr>
          <p:cNvPr id="6" name="CuadroTexto 5">
            <a:extLst>
              <a:ext uri="{FF2B5EF4-FFF2-40B4-BE49-F238E27FC236}">
                <a16:creationId xmlns:a16="http://schemas.microsoft.com/office/drawing/2014/main" id="{23E49E2B-67EE-0EA9-6E85-AB77018C86AD}"/>
              </a:ext>
            </a:extLst>
          </p:cNvPr>
          <p:cNvSpPr txBox="1"/>
          <p:nvPr/>
        </p:nvSpPr>
        <p:spPr>
          <a:xfrm>
            <a:off x="7960617" y="5046133"/>
            <a:ext cx="3645806" cy="1015663"/>
          </a:xfrm>
          <a:prstGeom prst="rect">
            <a:avLst/>
          </a:prstGeom>
          <a:noFill/>
        </p:spPr>
        <p:txBody>
          <a:bodyPr wrap="none" rtlCol="0">
            <a:spAutoFit/>
          </a:bodyPr>
          <a:lstStyle/>
          <a:p>
            <a:r>
              <a:rPr lang="es-MX" sz="2000" b="1" dirty="0">
                <a:solidFill>
                  <a:schemeClr val="bg1"/>
                </a:solidFill>
              </a:rPr>
              <a:t>Adrian Novoa</a:t>
            </a:r>
            <a:br>
              <a:rPr lang="es-MX" sz="2000" dirty="0">
                <a:solidFill>
                  <a:schemeClr val="bg1"/>
                </a:solidFill>
              </a:rPr>
            </a:br>
            <a:r>
              <a:rPr lang="es-MX" sz="2000" i="1" dirty="0">
                <a:solidFill>
                  <a:schemeClr val="bg1"/>
                </a:solidFill>
              </a:rPr>
              <a:t>Proyecto Final · Analista de Datos</a:t>
            </a:r>
            <a:br>
              <a:rPr lang="es-MX" sz="2000" dirty="0">
                <a:solidFill>
                  <a:schemeClr val="bg1"/>
                </a:solidFill>
              </a:rPr>
            </a:br>
            <a:r>
              <a:rPr lang="es-MX" sz="2000" b="1" dirty="0">
                <a:solidFill>
                  <a:schemeClr val="bg1"/>
                </a:solidFill>
              </a:rPr>
              <a:t>18 de agosto de 2026</a:t>
            </a:r>
            <a:endParaRPr lang="es-MX" sz="20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8803" y="531525"/>
            <a:ext cx="3732689" cy="523220"/>
          </a:xfrm>
          <a:prstGeom prst="rect">
            <a:avLst/>
          </a:prstGeom>
          <a:noFill/>
        </p:spPr>
        <p:txBody>
          <a:bodyPr wrap="none">
            <a:spAutoFit/>
          </a:bodyPr>
          <a:lstStyle/>
          <a:p>
            <a:pPr algn="l"/>
            <a:r>
              <a:rPr sz="2800" b="1" i="1" dirty="0">
                <a:solidFill>
                  <a:schemeClr val="bg1"/>
                </a:solidFill>
                <a:latin typeface="+mj-lt"/>
              </a:rPr>
              <a:t>1. </a:t>
            </a:r>
            <a:r>
              <a:rPr sz="2800" b="1" i="1" dirty="0" err="1">
                <a:solidFill>
                  <a:schemeClr val="bg1"/>
                </a:solidFill>
                <a:latin typeface="+mj-lt"/>
              </a:rPr>
              <a:t>Objetivo</a:t>
            </a:r>
            <a:r>
              <a:rPr sz="2800" b="1" i="1" dirty="0">
                <a:solidFill>
                  <a:schemeClr val="bg1"/>
                </a:solidFill>
                <a:latin typeface="+mj-lt"/>
              </a:rPr>
              <a:t> del </a:t>
            </a:r>
            <a:r>
              <a:rPr lang="es-MX" sz="2800" b="1" i="1" dirty="0">
                <a:solidFill>
                  <a:schemeClr val="bg1"/>
                </a:solidFill>
                <a:latin typeface="+mj-lt"/>
              </a:rPr>
              <a:t>P</a:t>
            </a:r>
            <a:r>
              <a:rPr sz="2800" b="1" i="1" dirty="0" err="1">
                <a:solidFill>
                  <a:schemeClr val="bg1"/>
                </a:solidFill>
                <a:latin typeface="+mj-lt"/>
              </a:rPr>
              <a:t>royecto</a:t>
            </a:r>
            <a:endParaRPr sz="2800" b="1" i="1" dirty="0">
              <a:solidFill>
                <a:schemeClr val="bg1"/>
              </a:solidFill>
              <a:latin typeface="+mj-lt"/>
            </a:endParaRPr>
          </a:p>
        </p:txBody>
      </p:sp>
      <p:sp>
        <p:nvSpPr>
          <p:cNvPr id="3" name="TextBox 2"/>
          <p:cNvSpPr txBox="1"/>
          <p:nvPr/>
        </p:nvSpPr>
        <p:spPr>
          <a:xfrm>
            <a:off x="777241" y="1600200"/>
            <a:ext cx="10382372" cy="4093428"/>
          </a:xfrm>
          <a:prstGeom prst="rect">
            <a:avLst/>
          </a:prstGeom>
          <a:noFill/>
        </p:spPr>
        <p:txBody>
          <a:bodyPr wrap="square">
            <a:spAutoFit/>
          </a:bodyPr>
          <a:lstStyle/>
          <a:p>
            <a:pPr marL="342900" indent="-342900" algn="just">
              <a:buFont typeface="Arial" panose="020B0604020202020204" pitchFamily="34" charset="0"/>
              <a:buChar char="•"/>
            </a:pPr>
            <a:r>
              <a:rPr lang="es-MX" sz="2000" b="1" i="1" dirty="0">
                <a:solidFill>
                  <a:schemeClr val="bg1"/>
                </a:solidFill>
              </a:rPr>
              <a:t>El servicio de telefonía virtual </a:t>
            </a:r>
            <a:r>
              <a:rPr lang="es-MX" sz="2000" b="1" i="1" dirty="0" err="1">
                <a:solidFill>
                  <a:schemeClr val="bg1"/>
                </a:solidFill>
              </a:rPr>
              <a:t>CallMeMaybe</a:t>
            </a:r>
            <a:r>
              <a:rPr lang="es-MX" sz="2000" b="1" i="1" dirty="0">
                <a:solidFill>
                  <a:schemeClr val="bg1"/>
                </a:solidFill>
              </a:rPr>
              <a:t> buscaba desarrollar una funcionalidad que permitiera identificar operadores ineficaces dentro de su sistema de atención telefónica.</a:t>
            </a:r>
          </a:p>
          <a:p>
            <a:pPr marL="342900" indent="-342900" algn="just">
              <a:buFont typeface="Arial" panose="020B0604020202020204" pitchFamily="34" charset="0"/>
              <a:buChar char="•"/>
            </a:pPr>
            <a:endParaRPr lang="es-MX" sz="2000" b="1" i="1" dirty="0">
              <a:solidFill>
                <a:schemeClr val="bg1"/>
              </a:solidFill>
            </a:endParaRPr>
          </a:p>
          <a:p>
            <a:pPr marL="342900" indent="-342900" algn="just">
              <a:buFont typeface="Arial" panose="020B0604020202020204" pitchFamily="34" charset="0"/>
              <a:buChar char="•"/>
            </a:pPr>
            <a:r>
              <a:rPr lang="es-MX" sz="2000" i="1" dirty="0">
                <a:solidFill>
                  <a:schemeClr val="bg1"/>
                </a:solidFill>
              </a:rPr>
              <a:t>Para ello, se analizaron registros históricos de llamadas con el objetivo de detectar patrones relacionados con los siguientes parámetros:</a:t>
            </a:r>
          </a:p>
          <a:p>
            <a:pPr marL="800100" lvl="1" indent="-342900" algn="just">
              <a:buFont typeface="Arial" panose="020B0604020202020204" pitchFamily="34" charset="0"/>
              <a:buChar char="•"/>
            </a:pPr>
            <a:r>
              <a:rPr lang="es-MX" sz="2000" i="1" dirty="0">
                <a:solidFill>
                  <a:schemeClr val="bg1"/>
                </a:solidFill>
              </a:rPr>
              <a:t>Una alta cantidad de Llamadas Perdidas</a:t>
            </a:r>
          </a:p>
          <a:p>
            <a:pPr marL="800100" lvl="1" indent="-342900" algn="just">
              <a:buFont typeface="Arial" panose="020B0604020202020204" pitchFamily="34" charset="0"/>
              <a:buChar char="•"/>
            </a:pPr>
            <a:r>
              <a:rPr lang="es-MX" sz="2000" i="1" dirty="0">
                <a:solidFill>
                  <a:schemeClr val="bg1"/>
                </a:solidFill>
              </a:rPr>
              <a:t>Tiempos de Espera Elevados</a:t>
            </a:r>
          </a:p>
          <a:p>
            <a:pPr marL="800100" lvl="1" indent="-342900">
              <a:buFont typeface="Arial" panose="020B0604020202020204" pitchFamily="34" charset="0"/>
              <a:buChar char="•"/>
            </a:pPr>
            <a:r>
              <a:rPr lang="es-MX" sz="2000" i="1" dirty="0">
                <a:solidFill>
                  <a:schemeClr val="bg1"/>
                </a:solidFill>
              </a:rPr>
              <a:t>Cantidades de llamadas salientes y entrantes.</a:t>
            </a:r>
          </a:p>
          <a:p>
            <a:pPr marL="800100" lvl="1" indent="-342900">
              <a:buFont typeface="Arial" panose="020B0604020202020204" pitchFamily="34" charset="0"/>
              <a:buChar char="•"/>
            </a:pPr>
            <a:endParaRPr lang="es-MX" sz="2000" b="1" i="1" dirty="0">
              <a:solidFill>
                <a:schemeClr val="bg1"/>
              </a:solidFill>
            </a:endParaRPr>
          </a:p>
          <a:p>
            <a:pPr marL="342900" lvl="1" indent="-342900">
              <a:buFont typeface="Arial" panose="020B0604020202020204" pitchFamily="34" charset="0"/>
              <a:buChar char="•"/>
            </a:pPr>
            <a:r>
              <a:rPr lang="es-MX" sz="2000" i="1" dirty="0">
                <a:solidFill>
                  <a:schemeClr val="bg1"/>
                </a:solidFill>
              </a:rPr>
              <a:t>A través de análisis exploratorio de datos, métricas de desempeño y pruebas estadísticas, el proyecto buscó identificar comportamientos asociados a ineficiencia operativa para detectar, calificar y clasificar a los operadores ineficaces para generar </a:t>
            </a:r>
            <a:r>
              <a:rPr lang="es-MX" sz="2000" i="1" dirty="0" err="1">
                <a:solidFill>
                  <a:schemeClr val="bg1"/>
                </a:solidFill>
              </a:rPr>
              <a:t>insights</a:t>
            </a:r>
            <a:r>
              <a:rPr lang="es-MX" sz="2000" i="1" dirty="0">
                <a:solidFill>
                  <a:schemeClr val="bg1"/>
                </a:solidFill>
              </a:rPr>
              <a:t> que sean útiles para supervisión y toma de decisiones.</a:t>
            </a:r>
          </a:p>
        </p:txBody>
      </p:sp>
      <p:sp>
        <p:nvSpPr>
          <p:cNvPr id="4" name="TextBox 3"/>
          <p:cNvSpPr txBox="1"/>
          <p:nvPr/>
        </p:nvSpPr>
        <p:spPr>
          <a:xfrm>
            <a:off x="10972800" y="6446520"/>
            <a:ext cx="548640" cy="228600"/>
          </a:xfrm>
          <a:prstGeom prst="rect">
            <a:avLst/>
          </a:prstGeom>
          <a:noFill/>
        </p:spPr>
        <p:txBody>
          <a:bodyPr wrap="none">
            <a:spAutoFit/>
          </a:bodyPr>
          <a:lstStyle/>
          <a:p>
            <a:pPr algn="r"/>
            <a:r>
              <a:rPr sz="900" b="0">
                <a:solidFill>
                  <a:srgbClr val="94A3B8"/>
                </a:solidFill>
                <a:latin typeface="Arial"/>
              </a:rPr>
              <a:t>2/8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47217"/>
            <a:ext cx="3664273" cy="523220"/>
          </a:xfrm>
          <a:prstGeom prst="rect">
            <a:avLst/>
          </a:prstGeom>
          <a:noFill/>
        </p:spPr>
        <p:txBody>
          <a:bodyPr wrap="none">
            <a:spAutoFit/>
          </a:bodyPr>
          <a:lstStyle/>
          <a:p>
            <a:pPr algn="l"/>
            <a:r>
              <a:rPr sz="2800" b="1" i="1" dirty="0">
                <a:solidFill>
                  <a:schemeClr val="bg1"/>
                </a:solidFill>
                <a:latin typeface="+mj-lt"/>
              </a:rPr>
              <a:t>2. </a:t>
            </a:r>
            <a:r>
              <a:rPr sz="2800" b="1" i="1" dirty="0" err="1">
                <a:solidFill>
                  <a:schemeClr val="bg1"/>
                </a:solidFill>
                <a:latin typeface="+mj-lt"/>
              </a:rPr>
              <a:t>Datos</a:t>
            </a:r>
            <a:r>
              <a:rPr sz="2800" b="1" i="1" dirty="0">
                <a:solidFill>
                  <a:schemeClr val="bg1"/>
                </a:solidFill>
                <a:latin typeface="+mj-lt"/>
              </a:rPr>
              <a:t> y </a:t>
            </a:r>
            <a:r>
              <a:rPr lang="es-MX" sz="2800" b="1" i="1" dirty="0">
                <a:solidFill>
                  <a:schemeClr val="bg1"/>
                </a:solidFill>
                <a:latin typeface="+mj-lt"/>
              </a:rPr>
              <a:t>M</a:t>
            </a:r>
            <a:r>
              <a:rPr sz="2800" b="1" i="1" dirty="0" err="1">
                <a:solidFill>
                  <a:schemeClr val="bg1"/>
                </a:solidFill>
                <a:latin typeface="+mj-lt"/>
              </a:rPr>
              <a:t>etodología</a:t>
            </a:r>
            <a:endParaRPr sz="2800" b="1" i="1" dirty="0">
              <a:solidFill>
                <a:schemeClr val="bg1"/>
              </a:solidFill>
              <a:latin typeface="+mj-lt"/>
            </a:endParaRPr>
          </a:p>
        </p:txBody>
      </p:sp>
      <p:sp>
        <p:nvSpPr>
          <p:cNvPr id="3" name="TextBox 2"/>
          <p:cNvSpPr txBox="1"/>
          <p:nvPr/>
        </p:nvSpPr>
        <p:spPr>
          <a:xfrm>
            <a:off x="777240" y="1379485"/>
            <a:ext cx="10392205" cy="4585871"/>
          </a:xfrm>
          <a:prstGeom prst="rect">
            <a:avLst/>
          </a:prstGeom>
          <a:noFill/>
        </p:spPr>
        <p:txBody>
          <a:bodyPr wrap="square">
            <a:spAutoFit/>
          </a:bodyPr>
          <a:lstStyle/>
          <a:p>
            <a:pPr algn="l"/>
            <a:r>
              <a:rPr lang="es-MX" sz="2400" b="1" i="1" dirty="0">
                <a:solidFill>
                  <a:schemeClr val="bg1"/>
                </a:solidFill>
              </a:rPr>
              <a:t>Metodología</a:t>
            </a:r>
            <a:r>
              <a:rPr lang="es-MX" sz="2000" b="1" i="1" dirty="0">
                <a:solidFill>
                  <a:schemeClr val="bg1"/>
                </a:solidFill>
              </a:rPr>
              <a:t> </a:t>
            </a:r>
          </a:p>
          <a:p>
            <a:pPr marL="536575" indent="-536575" algn="l"/>
            <a:r>
              <a:rPr lang="es-MX" sz="2000" i="1" dirty="0">
                <a:solidFill>
                  <a:schemeClr val="bg1"/>
                </a:solidFill>
              </a:rPr>
              <a:t>	</a:t>
            </a:r>
            <a:r>
              <a:rPr sz="2000" i="1" dirty="0" err="1">
                <a:solidFill>
                  <a:schemeClr val="bg1"/>
                </a:solidFill>
              </a:rPr>
              <a:t>Datos</a:t>
            </a:r>
            <a:r>
              <a:rPr sz="2000" i="1" dirty="0">
                <a:solidFill>
                  <a:schemeClr val="bg1"/>
                </a:solidFill>
              </a:rPr>
              <a:t> de </a:t>
            </a:r>
            <a:r>
              <a:rPr sz="2000" i="1" dirty="0" err="1">
                <a:solidFill>
                  <a:schemeClr val="bg1"/>
                </a:solidFill>
              </a:rPr>
              <a:t>llamadas</a:t>
            </a:r>
            <a:r>
              <a:rPr sz="2000" i="1" dirty="0">
                <a:solidFill>
                  <a:schemeClr val="bg1"/>
                </a:solidFill>
              </a:rPr>
              <a:t> + </a:t>
            </a:r>
            <a:r>
              <a:rPr sz="2000" i="1" dirty="0" err="1">
                <a:solidFill>
                  <a:schemeClr val="bg1"/>
                </a:solidFill>
              </a:rPr>
              <a:t>clientes</a:t>
            </a:r>
            <a:r>
              <a:rPr sz="2000" i="1" dirty="0">
                <a:solidFill>
                  <a:schemeClr val="bg1"/>
                </a:solidFill>
              </a:rPr>
              <a:t> → </a:t>
            </a:r>
            <a:r>
              <a:rPr sz="2000" i="1" dirty="0" err="1">
                <a:solidFill>
                  <a:schemeClr val="bg1"/>
                </a:solidFill>
              </a:rPr>
              <a:t>preparación</a:t>
            </a:r>
            <a:r>
              <a:rPr sz="2000" i="1" dirty="0">
                <a:solidFill>
                  <a:schemeClr val="bg1"/>
                </a:solidFill>
              </a:rPr>
              <a:t> → EDA → </a:t>
            </a:r>
            <a:r>
              <a:rPr sz="2000" i="1" dirty="0" err="1">
                <a:solidFill>
                  <a:schemeClr val="bg1"/>
                </a:solidFill>
              </a:rPr>
              <a:t>métricas</a:t>
            </a:r>
            <a:r>
              <a:rPr sz="2000" i="1" dirty="0">
                <a:solidFill>
                  <a:schemeClr val="bg1"/>
                </a:solidFill>
              </a:rPr>
              <a:t> → </a:t>
            </a:r>
            <a:r>
              <a:rPr sz="2000" i="1" dirty="0" err="1">
                <a:solidFill>
                  <a:schemeClr val="bg1"/>
                </a:solidFill>
              </a:rPr>
              <a:t>clasificación</a:t>
            </a:r>
            <a:r>
              <a:rPr sz="2000" i="1" dirty="0">
                <a:solidFill>
                  <a:schemeClr val="bg1"/>
                </a:solidFill>
              </a:rPr>
              <a:t> → </a:t>
            </a:r>
            <a:r>
              <a:rPr sz="2000" i="1" dirty="0" err="1">
                <a:solidFill>
                  <a:schemeClr val="bg1"/>
                </a:solidFill>
              </a:rPr>
              <a:t>pruebas</a:t>
            </a:r>
            <a:r>
              <a:rPr sz="2000" i="1" dirty="0">
                <a:solidFill>
                  <a:schemeClr val="bg1"/>
                </a:solidFill>
              </a:rPr>
              <a:t> </a:t>
            </a:r>
            <a:r>
              <a:rPr sz="2000" i="1" dirty="0" err="1">
                <a:solidFill>
                  <a:schemeClr val="bg1"/>
                </a:solidFill>
              </a:rPr>
              <a:t>estadísticas</a:t>
            </a:r>
            <a:r>
              <a:rPr sz="2000" i="1" dirty="0">
                <a:solidFill>
                  <a:schemeClr val="bg1"/>
                </a:solidFill>
              </a:rPr>
              <a:t> → dashboard.
</a:t>
            </a:r>
            <a:endParaRPr lang="es-MX" sz="2000" i="1" dirty="0">
              <a:solidFill>
                <a:schemeClr val="bg1"/>
              </a:solidFill>
            </a:endParaRPr>
          </a:p>
          <a:p>
            <a:pPr marL="0" marR="0" lvl="0" indent="0" algn="l" defTabSz="914400" rtl="0" eaLnBrk="0" fontAlgn="base" latinLnBrk="0" hangingPunct="0">
              <a:buClrTx/>
              <a:buSzTx/>
              <a:buFontTx/>
              <a:buNone/>
              <a:tabLst/>
            </a:pPr>
            <a:r>
              <a:rPr kumimoji="0" lang="es-MX" altLang="es-MX" sz="2400" b="1" i="1" u="none" strike="noStrike" cap="none" normalizeH="0" baseline="0" dirty="0">
                <a:ln>
                  <a:noFill/>
                </a:ln>
                <a:solidFill>
                  <a:schemeClr val="bg1"/>
                </a:solidFill>
                <a:effectLst/>
              </a:rPr>
              <a:t>Datos utilizados</a:t>
            </a:r>
          </a:p>
          <a:p>
            <a:pPr marL="536575" marR="0" lvl="0" algn="l" defTabSz="914400" rtl="0" eaLnBrk="0" fontAlgn="base" latinLnBrk="0" hangingPunct="0">
              <a:buClrTx/>
              <a:buSzTx/>
              <a:tabLst/>
            </a:pPr>
            <a:r>
              <a:rPr kumimoji="0" lang="es-MX" altLang="es-MX" sz="2000" b="1" i="1" u="none" strike="noStrike" cap="none" normalizeH="0" baseline="0" dirty="0">
                <a:ln>
                  <a:noFill/>
                </a:ln>
                <a:solidFill>
                  <a:schemeClr val="bg1"/>
                </a:solidFill>
                <a:effectLst/>
              </a:rPr>
              <a:t>Registros de llamadas  </a:t>
            </a:r>
            <a:r>
              <a:rPr kumimoji="0" lang="es-MX" altLang="es-MX" sz="2000" b="1" u="none" strike="noStrike" cap="none" normalizeH="0" baseline="0" dirty="0">
                <a:ln>
                  <a:noFill/>
                </a:ln>
                <a:solidFill>
                  <a:schemeClr val="bg1"/>
                </a:solidFill>
                <a:effectLst/>
              </a:rPr>
              <a:t>|</a:t>
            </a:r>
            <a:r>
              <a:rPr kumimoji="0" lang="es-MX" altLang="es-MX" sz="2000" b="1" i="1" u="none" strike="noStrike" cap="none" normalizeH="0" baseline="0" dirty="0">
                <a:ln>
                  <a:noFill/>
                </a:ln>
                <a:solidFill>
                  <a:schemeClr val="bg1"/>
                </a:solidFill>
                <a:effectLst/>
              </a:rPr>
              <a:t>  </a:t>
            </a:r>
            <a:r>
              <a:rPr kumimoji="0" lang="es-MX" altLang="es-MX" u="none" strike="noStrike" cap="none" normalizeH="0" baseline="0" dirty="0">
                <a:ln>
                  <a:noFill/>
                </a:ln>
                <a:solidFill>
                  <a:schemeClr val="bg1"/>
                </a:solidFill>
                <a:effectLst/>
              </a:rPr>
              <a:t>telecom_dataset_new.csv</a:t>
            </a:r>
          </a:p>
          <a:p>
            <a:pPr marL="1166813" marR="0" lvl="0" indent="-179388" algn="l" defTabSz="914400" rtl="0" eaLnBrk="0" fontAlgn="base" latinLnBrk="0" hangingPunct="0">
              <a:spcAft>
                <a:spcPct val="0"/>
              </a:spcAft>
              <a:buClrTx/>
              <a:buSzTx/>
              <a:buFont typeface="Arial" panose="020B0604020202020204" pitchFamily="34" charset="0"/>
              <a:buChar char="•"/>
              <a:tabLst/>
            </a:pPr>
            <a:r>
              <a:rPr lang="es-MX" sz="2000" i="1" dirty="0">
                <a:solidFill>
                  <a:schemeClr val="bg1"/>
                </a:solidFill>
              </a:rPr>
              <a:t>Información sobre clientes, fechas, dirección, llamadas internas, operadores, llamadas perdidas, cantidad y duración de llamadas.</a:t>
            </a:r>
            <a:endParaRPr kumimoji="0" lang="es-MX" altLang="es-MX" sz="2000" i="1" u="none" strike="noStrike" cap="none" normalizeH="0" baseline="0" dirty="0">
              <a:ln>
                <a:noFill/>
              </a:ln>
              <a:solidFill>
                <a:schemeClr val="bg1"/>
              </a:solidFill>
              <a:effectLst/>
            </a:endParaRPr>
          </a:p>
          <a:p>
            <a:pPr marL="0" marR="0" lvl="0" indent="0" algn="l" defTabSz="914400" rtl="0" eaLnBrk="0" fontAlgn="base" latinLnBrk="0" hangingPunct="0">
              <a:spcAft>
                <a:spcPct val="0"/>
              </a:spcAft>
              <a:buClrTx/>
              <a:buSzTx/>
              <a:buFontTx/>
              <a:buNone/>
              <a:tabLst/>
            </a:pPr>
            <a:endParaRPr kumimoji="0" lang="es-MX" altLang="es-MX" sz="2000" b="1" i="1" u="none" strike="noStrike" cap="none" normalizeH="0" baseline="0" dirty="0">
              <a:ln>
                <a:noFill/>
              </a:ln>
              <a:solidFill>
                <a:schemeClr val="bg1"/>
              </a:solidFill>
              <a:effectLst/>
            </a:endParaRPr>
          </a:p>
          <a:p>
            <a:pPr marL="536575" marR="0" lvl="0" algn="l" defTabSz="914400" rtl="0" eaLnBrk="0" fontAlgn="base" latinLnBrk="0" hangingPunct="0">
              <a:spcAft>
                <a:spcPct val="0"/>
              </a:spcAft>
              <a:buClrTx/>
              <a:buSzTx/>
              <a:buFontTx/>
              <a:buNone/>
              <a:tabLst/>
            </a:pPr>
            <a:r>
              <a:rPr kumimoji="0" lang="es-MX" altLang="es-MX" sz="2000" b="1" i="1" u="none" strike="noStrike" cap="none" normalizeH="0" baseline="0" dirty="0">
                <a:ln>
                  <a:noFill/>
                </a:ln>
                <a:solidFill>
                  <a:schemeClr val="bg1"/>
                </a:solidFill>
                <a:effectLst/>
              </a:rPr>
              <a:t>Información de clientes </a:t>
            </a:r>
            <a:r>
              <a:rPr kumimoji="0" lang="es-MX" altLang="es-MX" sz="2000" b="1" u="none" strike="noStrike" cap="none" normalizeH="0" baseline="0" dirty="0">
                <a:ln>
                  <a:noFill/>
                </a:ln>
                <a:solidFill>
                  <a:schemeClr val="bg1"/>
                </a:solidFill>
                <a:effectLst/>
              </a:rPr>
              <a:t>|</a:t>
            </a:r>
            <a:r>
              <a:rPr kumimoji="0" lang="es-MX" altLang="es-MX" sz="2000" b="1" i="1" u="none" strike="noStrike" cap="none" normalizeH="0" baseline="0" dirty="0">
                <a:ln>
                  <a:noFill/>
                </a:ln>
                <a:solidFill>
                  <a:schemeClr val="bg1"/>
                </a:solidFill>
                <a:effectLst/>
              </a:rPr>
              <a:t>  </a:t>
            </a:r>
            <a:r>
              <a:rPr kumimoji="0" lang="es-MX" altLang="es-MX" u="none" strike="noStrike" cap="none" normalizeH="0" baseline="0" dirty="0">
                <a:ln>
                  <a:noFill/>
                </a:ln>
                <a:solidFill>
                  <a:schemeClr val="bg1"/>
                </a:solidFill>
                <a:effectLst/>
              </a:rPr>
              <a:t>telecom_clients.csv</a:t>
            </a:r>
          </a:p>
          <a:p>
            <a:pPr marL="1166813" marR="0" lvl="0" indent="-179388" algn="l" defTabSz="914400" rtl="0" eaLnBrk="0" fontAlgn="base" latinLnBrk="0" hangingPunct="0">
              <a:spcAft>
                <a:spcPct val="0"/>
              </a:spcAft>
              <a:buClrTx/>
              <a:buSzTx/>
              <a:buFont typeface="Arial" panose="020B0604020202020204" pitchFamily="34" charset="0"/>
              <a:buChar char="•"/>
              <a:tabLst/>
            </a:pPr>
            <a:r>
              <a:rPr lang="es-MX" sz="2000" i="1" dirty="0">
                <a:solidFill>
                  <a:schemeClr val="bg1"/>
                </a:solidFill>
              </a:rPr>
              <a:t>Información sobre clientes, tarifa y fecha de registro.</a:t>
            </a:r>
          </a:p>
          <a:p>
            <a:pPr marR="0" lvl="0" algn="l" defTabSz="914400" rtl="0" eaLnBrk="0" fontAlgn="base" latinLnBrk="0" hangingPunct="0">
              <a:spcAft>
                <a:spcPct val="0"/>
              </a:spcAft>
              <a:buClrTx/>
              <a:buSzTx/>
              <a:tabLst/>
            </a:pPr>
            <a:endParaRPr kumimoji="0" lang="es-MX" altLang="es-MX" sz="2000" b="1" i="1" u="none" strike="noStrike" cap="none" normalizeH="0" baseline="0" dirty="0">
              <a:ln>
                <a:noFill/>
              </a:ln>
              <a:solidFill>
                <a:schemeClr val="bg1"/>
              </a:solidFill>
              <a:effectLst/>
            </a:endParaRPr>
          </a:p>
          <a:p>
            <a:pPr marL="0" marR="0" lvl="0" indent="0" algn="l" defTabSz="914400" rtl="0" eaLnBrk="0" fontAlgn="base" latinLnBrk="0" hangingPunct="0">
              <a:spcAft>
                <a:spcPct val="0"/>
              </a:spcAft>
              <a:buClrTx/>
              <a:buSzTx/>
              <a:buFontTx/>
              <a:buNone/>
              <a:tabLst/>
            </a:pPr>
            <a:r>
              <a:rPr kumimoji="0" lang="es-MX" altLang="es-MX" sz="2400" b="1" i="1" u="none" strike="noStrike" cap="none" normalizeH="0" baseline="0" dirty="0">
                <a:ln>
                  <a:noFill/>
                </a:ln>
                <a:solidFill>
                  <a:schemeClr val="bg1"/>
                </a:solidFill>
                <a:effectLst/>
              </a:rPr>
              <a:t>Resultado del análisis</a:t>
            </a:r>
          </a:p>
          <a:p>
            <a:pPr marL="536575" marR="0" lvl="0" algn="l" defTabSz="914400" rtl="0" eaLnBrk="0" fontAlgn="base" latinLnBrk="0" hangingPunct="0">
              <a:spcAft>
                <a:spcPct val="0"/>
              </a:spcAft>
              <a:buClrTx/>
              <a:buSzTx/>
              <a:buFontTx/>
              <a:buNone/>
              <a:tabLst/>
            </a:pPr>
            <a:r>
              <a:rPr kumimoji="0" lang="es-MX" altLang="es-MX" sz="2000" b="1" i="1" u="none" strike="noStrike" cap="none" normalizeH="0" baseline="0" dirty="0">
                <a:ln>
                  <a:noFill/>
                </a:ln>
                <a:solidFill>
                  <a:schemeClr val="bg1"/>
                </a:solidFill>
                <a:effectLst/>
              </a:rPr>
              <a:t>1,092 operadores analizados</a:t>
            </a:r>
          </a:p>
        </p:txBody>
      </p:sp>
      <p:sp>
        <p:nvSpPr>
          <p:cNvPr id="4" name="TextBox 3"/>
          <p:cNvSpPr txBox="1"/>
          <p:nvPr/>
        </p:nvSpPr>
        <p:spPr>
          <a:xfrm>
            <a:off x="10972800" y="6446520"/>
            <a:ext cx="548640" cy="228600"/>
          </a:xfrm>
          <a:prstGeom prst="rect">
            <a:avLst/>
          </a:prstGeom>
          <a:noFill/>
        </p:spPr>
        <p:txBody>
          <a:bodyPr wrap="none">
            <a:spAutoFit/>
          </a:bodyPr>
          <a:lstStyle/>
          <a:p>
            <a:pPr algn="r"/>
            <a:r>
              <a:rPr sz="900" b="0">
                <a:solidFill>
                  <a:srgbClr val="94A3B8"/>
                </a:solidFill>
                <a:latin typeface="Arial"/>
              </a:rPr>
              <a:t>3/8</a:t>
            </a:r>
          </a:p>
        </p:txBody>
      </p:sp>
      <p:pic>
        <p:nvPicPr>
          <p:cNvPr id="5" name="Picture 4" descr="calls_direction_compact.png"/>
          <p:cNvPicPr>
            <a:picLocks noChangeAspect="1"/>
          </p:cNvPicPr>
          <p:nvPr/>
        </p:nvPicPr>
        <p:blipFill>
          <a:blip r:embed="rId4"/>
          <a:stretch>
            <a:fillRect/>
          </a:stretch>
        </p:blipFill>
        <p:spPr>
          <a:xfrm>
            <a:off x="5623560" y="5102352"/>
            <a:ext cx="2788920" cy="1115568"/>
          </a:xfrm>
          <a:prstGeom prst="rect">
            <a:avLst/>
          </a:prstGeom>
        </p:spPr>
      </p:pic>
      <p:pic>
        <p:nvPicPr>
          <p:cNvPr id="6" name="Picture 5" descr="classification_compact.png"/>
          <p:cNvPicPr>
            <a:picLocks noChangeAspect="1"/>
          </p:cNvPicPr>
          <p:nvPr/>
        </p:nvPicPr>
        <p:blipFill>
          <a:blip r:embed="rId5"/>
          <a:stretch>
            <a:fillRect/>
          </a:stretch>
        </p:blipFill>
        <p:spPr>
          <a:xfrm>
            <a:off x="8549640" y="5102352"/>
            <a:ext cx="2788920" cy="11155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26199"/>
            <a:ext cx="4849982" cy="523220"/>
          </a:xfrm>
          <a:prstGeom prst="rect">
            <a:avLst/>
          </a:prstGeom>
          <a:noFill/>
        </p:spPr>
        <p:txBody>
          <a:bodyPr wrap="none">
            <a:spAutoFit/>
          </a:bodyPr>
          <a:lstStyle/>
          <a:p>
            <a:pPr algn="l"/>
            <a:r>
              <a:rPr sz="2800" b="1" i="1" dirty="0">
                <a:solidFill>
                  <a:schemeClr val="bg1"/>
                </a:solidFill>
                <a:latin typeface="+mj-lt"/>
              </a:rPr>
              <a:t>3. </a:t>
            </a:r>
            <a:r>
              <a:rPr sz="2800" b="1" i="1" dirty="0" err="1">
                <a:solidFill>
                  <a:schemeClr val="bg1"/>
                </a:solidFill>
                <a:latin typeface="+mj-lt"/>
              </a:rPr>
              <a:t>Principales</a:t>
            </a:r>
            <a:r>
              <a:rPr sz="2800" b="1" i="1" dirty="0">
                <a:solidFill>
                  <a:schemeClr val="bg1"/>
                </a:solidFill>
                <a:latin typeface="+mj-lt"/>
              </a:rPr>
              <a:t> </a:t>
            </a:r>
            <a:r>
              <a:rPr sz="2800" b="1" i="1" dirty="0" err="1">
                <a:solidFill>
                  <a:schemeClr val="bg1"/>
                </a:solidFill>
                <a:latin typeface="+mj-lt"/>
              </a:rPr>
              <a:t>hallazgos</a:t>
            </a:r>
            <a:r>
              <a:rPr sz="2800" b="1" i="1" dirty="0">
                <a:solidFill>
                  <a:schemeClr val="bg1"/>
                </a:solidFill>
                <a:latin typeface="+mj-lt"/>
              </a:rPr>
              <a:t> del EDA</a:t>
            </a:r>
          </a:p>
        </p:txBody>
      </p:sp>
      <p:sp>
        <p:nvSpPr>
          <p:cNvPr id="3" name="TextBox 2"/>
          <p:cNvSpPr txBox="1"/>
          <p:nvPr/>
        </p:nvSpPr>
        <p:spPr>
          <a:xfrm>
            <a:off x="777239" y="1253360"/>
            <a:ext cx="10402038" cy="5324535"/>
          </a:xfrm>
          <a:prstGeom prst="rect">
            <a:avLst/>
          </a:prstGeom>
          <a:noFill/>
        </p:spPr>
        <p:txBody>
          <a:bodyPr wrap="square">
            <a:spAutoFit/>
          </a:bodyPr>
          <a:lstStyle/>
          <a:p>
            <a:pPr marL="536575" indent="-536575">
              <a:spcBef>
                <a:spcPts val="1000"/>
              </a:spcBef>
            </a:pPr>
            <a:r>
              <a:rPr lang="es-MX" sz="2400" b="1" i="1" dirty="0">
                <a:solidFill>
                  <a:schemeClr val="bg1"/>
                </a:solidFill>
              </a:rPr>
              <a:t>Distribución de llamadas</a:t>
            </a:r>
            <a:br>
              <a:rPr lang="es-MX" sz="2000" b="1" i="1" dirty="0">
                <a:solidFill>
                  <a:schemeClr val="bg1"/>
                </a:solidFill>
              </a:rPr>
            </a:br>
            <a:r>
              <a:rPr lang="es-MX" sz="2000" i="1" dirty="0">
                <a:solidFill>
                  <a:schemeClr val="bg1"/>
                </a:solidFill>
              </a:rPr>
              <a:t>La mayor parte de la actividad corresponde a llamadas salientes, mientras que las llamadas entrantes representan una menor proporción.</a:t>
            </a:r>
          </a:p>
          <a:p>
            <a:pPr marL="536575" indent="-536575">
              <a:spcBef>
                <a:spcPts val="1000"/>
              </a:spcBef>
            </a:pPr>
            <a:r>
              <a:rPr lang="es-MX" sz="2400" b="1" i="1" dirty="0">
                <a:solidFill>
                  <a:schemeClr val="bg1"/>
                </a:solidFill>
              </a:rPr>
              <a:t>Llamadas perdidas</a:t>
            </a:r>
            <a:br>
              <a:rPr lang="es-MX" sz="2000" b="1" i="1" dirty="0">
                <a:solidFill>
                  <a:schemeClr val="bg1"/>
                </a:solidFill>
              </a:rPr>
            </a:br>
            <a:r>
              <a:rPr lang="es-MX" sz="2000" i="1" dirty="0">
                <a:solidFill>
                  <a:schemeClr val="bg1"/>
                </a:solidFill>
              </a:rPr>
              <a:t>Las llamadas perdidas presentan, en general, mayores tiempos de espera que las llamadas atendidas.</a:t>
            </a:r>
          </a:p>
          <a:p>
            <a:pPr marL="536575" indent="-536575">
              <a:spcBef>
                <a:spcPts val="1000"/>
              </a:spcBef>
            </a:pPr>
            <a:r>
              <a:rPr lang="es-MX" sz="2400" b="1" i="1" dirty="0">
                <a:solidFill>
                  <a:schemeClr val="bg1"/>
                </a:solidFill>
              </a:rPr>
              <a:t>Duración de llamadas</a:t>
            </a:r>
            <a:br>
              <a:rPr lang="es-MX" sz="2000" b="1" i="1" dirty="0">
                <a:solidFill>
                  <a:schemeClr val="bg1"/>
                </a:solidFill>
              </a:rPr>
            </a:br>
            <a:r>
              <a:rPr lang="es-MX" sz="2000" i="1" dirty="0">
                <a:solidFill>
                  <a:schemeClr val="bg1"/>
                </a:solidFill>
              </a:rPr>
              <a:t>La duración presenta una distribución asimétrica y presencia de valores atípicos.</a:t>
            </a:r>
          </a:p>
          <a:p>
            <a:pPr marL="536575" indent="-536575">
              <a:spcBef>
                <a:spcPts val="1000"/>
              </a:spcBef>
            </a:pPr>
            <a:r>
              <a:rPr lang="es-MX" sz="2400" b="1" i="1" dirty="0">
                <a:solidFill>
                  <a:schemeClr val="bg1"/>
                </a:solidFill>
              </a:rPr>
              <a:t>Comportamiento temporal</a:t>
            </a:r>
            <a:br>
              <a:rPr lang="es-MX" sz="2000" b="1" i="1" dirty="0">
                <a:solidFill>
                  <a:schemeClr val="bg1"/>
                </a:solidFill>
              </a:rPr>
            </a:br>
            <a:r>
              <a:rPr lang="es-MX" sz="2000" i="1" dirty="0">
                <a:solidFill>
                  <a:schemeClr val="bg1"/>
                </a:solidFill>
              </a:rPr>
              <a:t>La actividad telefónica es mayor durante los días laborales y disminuye durante los fines de semana.</a:t>
            </a:r>
          </a:p>
          <a:p>
            <a:pPr marL="536575" indent="-536575">
              <a:spcBef>
                <a:spcPts val="1000"/>
              </a:spcBef>
            </a:pPr>
            <a:r>
              <a:rPr lang="es-MX" sz="2400" b="1" i="1" dirty="0">
                <a:solidFill>
                  <a:schemeClr val="bg1"/>
                </a:solidFill>
              </a:rPr>
              <a:t>Diferencias entre operadores</a:t>
            </a:r>
            <a:br>
              <a:rPr lang="es-MX" sz="2000" b="1" i="1" dirty="0">
                <a:solidFill>
                  <a:schemeClr val="bg1"/>
                </a:solidFill>
              </a:rPr>
            </a:br>
            <a:r>
              <a:rPr lang="es-MX" sz="2000" i="1" dirty="0">
                <a:solidFill>
                  <a:schemeClr val="bg1"/>
                </a:solidFill>
              </a:rPr>
              <a:t>La carga de trabajo y el comportamiento de las llamadas presentan diferencias importantes entre operadores.</a:t>
            </a:r>
          </a:p>
        </p:txBody>
      </p:sp>
      <p:sp>
        <p:nvSpPr>
          <p:cNvPr id="4" name="TextBox 3"/>
          <p:cNvSpPr txBox="1"/>
          <p:nvPr/>
        </p:nvSpPr>
        <p:spPr>
          <a:xfrm>
            <a:off x="10972800" y="6446520"/>
            <a:ext cx="548640" cy="228600"/>
          </a:xfrm>
          <a:prstGeom prst="rect">
            <a:avLst/>
          </a:prstGeom>
          <a:noFill/>
        </p:spPr>
        <p:txBody>
          <a:bodyPr wrap="none">
            <a:spAutoFit/>
          </a:bodyPr>
          <a:lstStyle/>
          <a:p>
            <a:pPr algn="r"/>
            <a:r>
              <a:rPr sz="900" b="0">
                <a:solidFill>
                  <a:srgbClr val="94A3B8"/>
                </a:solidFill>
                <a:latin typeface="Arial"/>
              </a:rPr>
              <a:t>4/8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88617"/>
            <a:ext cx="6310061" cy="523220"/>
          </a:xfrm>
          <a:prstGeom prst="rect">
            <a:avLst/>
          </a:prstGeom>
          <a:noFill/>
        </p:spPr>
        <p:txBody>
          <a:bodyPr wrap="none">
            <a:spAutoFit/>
          </a:bodyPr>
          <a:lstStyle/>
          <a:p>
            <a:pPr algn="l"/>
            <a:r>
              <a:rPr sz="2800" b="1" i="1" dirty="0">
                <a:solidFill>
                  <a:schemeClr val="bg1"/>
                </a:solidFill>
                <a:latin typeface="+mj-lt"/>
              </a:rPr>
              <a:t>4. </a:t>
            </a:r>
            <a:r>
              <a:rPr sz="2800" b="1" i="1" dirty="0" err="1">
                <a:solidFill>
                  <a:schemeClr val="bg1"/>
                </a:solidFill>
                <a:latin typeface="+mj-lt"/>
              </a:rPr>
              <a:t>Identificación</a:t>
            </a:r>
            <a:r>
              <a:rPr sz="2800" b="1" i="1" dirty="0">
                <a:solidFill>
                  <a:schemeClr val="bg1"/>
                </a:solidFill>
                <a:latin typeface="+mj-lt"/>
              </a:rPr>
              <a:t> de </a:t>
            </a:r>
            <a:r>
              <a:rPr sz="2800" b="1" i="1" dirty="0" err="1">
                <a:solidFill>
                  <a:schemeClr val="bg1"/>
                </a:solidFill>
                <a:latin typeface="+mj-lt"/>
              </a:rPr>
              <a:t>operadores</a:t>
            </a:r>
            <a:r>
              <a:rPr sz="2800" b="1" i="1" dirty="0">
                <a:solidFill>
                  <a:schemeClr val="bg1"/>
                </a:solidFill>
                <a:latin typeface="+mj-lt"/>
              </a:rPr>
              <a:t> </a:t>
            </a:r>
            <a:r>
              <a:rPr sz="2800" b="1" i="1" dirty="0" err="1">
                <a:solidFill>
                  <a:schemeClr val="bg1"/>
                </a:solidFill>
                <a:latin typeface="+mj-lt"/>
              </a:rPr>
              <a:t>ineficaces</a:t>
            </a:r>
            <a:endParaRPr sz="2800" b="1" i="1" dirty="0">
              <a:solidFill>
                <a:schemeClr val="bg1"/>
              </a:solidFill>
              <a:latin typeface="+mj-lt"/>
            </a:endParaRPr>
          </a:p>
        </p:txBody>
      </p:sp>
      <p:sp>
        <p:nvSpPr>
          <p:cNvPr id="3" name="TextBox 2"/>
          <p:cNvSpPr txBox="1"/>
          <p:nvPr/>
        </p:nvSpPr>
        <p:spPr>
          <a:xfrm>
            <a:off x="777239" y="1115780"/>
            <a:ext cx="10392205" cy="4770537"/>
          </a:xfrm>
          <a:prstGeom prst="rect">
            <a:avLst/>
          </a:prstGeom>
          <a:noFill/>
        </p:spPr>
        <p:txBody>
          <a:bodyPr wrap="square">
            <a:spAutoFit/>
          </a:bodyPr>
          <a:lstStyle/>
          <a:p>
            <a:r>
              <a:rPr lang="es-MX" sz="2400" b="1" i="1" dirty="0">
                <a:solidFill>
                  <a:schemeClr val="bg1"/>
                </a:solidFill>
              </a:rPr>
              <a:t>Criterios</a:t>
            </a:r>
          </a:p>
          <a:p>
            <a:r>
              <a:rPr lang="es-MX" sz="2000" i="1" dirty="0">
                <a:solidFill>
                  <a:schemeClr val="bg1"/>
                </a:solidFill>
              </a:rPr>
              <a:t>Primeramente se establecieron tres criterios de evaluación en base a los parámetros analizados quedando de la siguiente manera:</a:t>
            </a:r>
          </a:p>
          <a:p>
            <a:pPr marL="987425" indent="-285750">
              <a:buFont typeface="Arial" panose="020B0604020202020204" pitchFamily="34" charset="0"/>
              <a:buChar char="•"/>
            </a:pPr>
            <a:r>
              <a:rPr lang="es-MX" b="1" i="1" dirty="0">
                <a:solidFill>
                  <a:schemeClr val="bg1"/>
                </a:solidFill>
              </a:rPr>
              <a:t>Tasa de llamadas perdidas:</a:t>
            </a:r>
            <a:r>
              <a:rPr lang="es-MX" i="1" dirty="0">
                <a:solidFill>
                  <a:schemeClr val="bg1"/>
                </a:solidFill>
              </a:rPr>
              <a:t> superior al P75. </a:t>
            </a:r>
          </a:p>
          <a:p>
            <a:pPr marL="987425" indent="-285750">
              <a:buFont typeface="Arial" panose="020B0604020202020204" pitchFamily="34" charset="0"/>
              <a:buChar char="•"/>
            </a:pPr>
            <a:r>
              <a:rPr lang="es-MX" b="1" i="1" dirty="0">
                <a:solidFill>
                  <a:schemeClr val="bg1"/>
                </a:solidFill>
              </a:rPr>
              <a:t>Tiempo promedio de espera:</a:t>
            </a:r>
            <a:r>
              <a:rPr lang="es-MX" i="1" dirty="0">
                <a:solidFill>
                  <a:schemeClr val="bg1"/>
                </a:solidFill>
              </a:rPr>
              <a:t> superior al P75. </a:t>
            </a:r>
          </a:p>
          <a:p>
            <a:pPr marL="987425" indent="-285750">
              <a:buFont typeface="Arial" panose="020B0604020202020204" pitchFamily="34" charset="0"/>
              <a:buChar char="•"/>
            </a:pPr>
            <a:r>
              <a:rPr lang="es-MX" b="1" i="1" dirty="0">
                <a:solidFill>
                  <a:schemeClr val="bg1"/>
                </a:solidFill>
              </a:rPr>
              <a:t>Actividad de llamadas salientes:</a:t>
            </a:r>
            <a:r>
              <a:rPr lang="es-MX" i="1" dirty="0">
                <a:solidFill>
                  <a:schemeClr val="bg1"/>
                </a:solidFill>
              </a:rPr>
              <a:t> inferior al P25.</a:t>
            </a:r>
            <a:br>
              <a:rPr lang="es-MX" i="1" dirty="0">
                <a:solidFill>
                  <a:schemeClr val="bg1"/>
                </a:solidFill>
              </a:rPr>
            </a:br>
            <a:r>
              <a:rPr lang="es-MX" i="1" dirty="0">
                <a:solidFill>
                  <a:schemeClr val="bg1"/>
                </a:solidFill>
              </a:rPr>
              <a:t>(Solo operadores con actividad saliente). </a:t>
            </a:r>
          </a:p>
          <a:p>
            <a:endParaRPr lang="es-MX" sz="1000" b="1" i="1" dirty="0">
              <a:solidFill>
                <a:schemeClr val="bg1"/>
              </a:solidFill>
            </a:endParaRPr>
          </a:p>
          <a:p>
            <a:endParaRPr lang="es-MX" sz="1000" b="1" i="1" dirty="0">
              <a:solidFill>
                <a:schemeClr val="bg1"/>
              </a:solidFill>
            </a:endParaRPr>
          </a:p>
          <a:p>
            <a:r>
              <a:rPr lang="es-MX" sz="2400" b="1" i="1" dirty="0">
                <a:solidFill>
                  <a:schemeClr val="bg1"/>
                </a:solidFill>
              </a:rPr>
              <a:t>Tipo de operador</a:t>
            </a:r>
          </a:p>
          <a:p>
            <a:r>
              <a:rPr lang="es-MX" sz="2000" i="1" dirty="0">
                <a:solidFill>
                  <a:schemeClr val="bg1"/>
                </a:solidFill>
              </a:rPr>
              <a:t>Se encontró que no todos los operadores tienen la misma función: algunos realizan únicamente llamadas entrantes, otros únicamente llamadas salientes y otros realizan ambas funciones.</a:t>
            </a:r>
          </a:p>
          <a:p>
            <a:endParaRPr lang="es-MX" sz="1000" i="1" dirty="0">
              <a:solidFill>
                <a:schemeClr val="bg1"/>
              </a:solidFill>
            </a:endParaRPr>
          </a:p>
          <a:p>
            <a:endParaRPr lang="es-MX" sz="1000" i="1" dirty="0">
              <a:solidFill>
                <a:schemeClr val="bg1"/>
              </a:solidFill>
            </a:endParaRPr>
          </a:p>
          <a:p>
            <a:r>
              <a:rPr lang="es-MX" sz="2400" b="1" i="1" dirty="0">
                <a:solidFill>
                  <a:schemeClr val="bg1"/>
                </a:solidFill>
              </a:rPr>
              <a:t>Clasificación</a:t>
            </a:r>
          </a:p>
          <a:p>
            <a:r>
              <a:rPr lang="es-MX" sz="2000" i="1" dirty="0">
                <a:solidFill>
                  <a:schemeClr val="bg1"/>
                </a:solidFill>
              </a:rPr>
              <a:t>Por último, se calculó </a:t>
            </a:r>
            <a:r>
              <a:rPr lang="es-MX" sz="2000" b="1" i="1" dirty="0">
                <a:solidFill>
                  <a:schemeClr val="bg1"/>
                </a:solidFill>
              </a:rPr>
              <a:t>cuántos criterios incumplía cada operador</a:t>
            </a:r>
            <a:r>
              <a:rPr lang="es-MX" sz="2000" i="1" dirty="0">
                <a:solidFill>
                  <a:schemeClr val="bg1"/>
                </a:solidFill>
              </a:rPr>
              <a:t> para determinar su nivel de desempeño según su tipo de operador y definir una clasificación por cada tipo de operador.</a:t>
            </a:r>
          </a:p>
        </p:txBody>
      </p:sp>
      <p:sp>
        <p:nvSpPr>
          <p:cNvPr id="4" name="TextBox 3"/>
          <p:cNvSpPr txBox="1"/>
          <p:nvPr/>
        </p:nvSpPr>
        <p:spPr>
          <a:xfrm>
            <a:off x="10972800" y="6446520"/>
            <a:ext cx="548640" cy="228600"/>
          </a:xfrm>
          <a:prstGeom prst="rect">
            <a:avLst/>
          </a:prstGeom>
          <a:noFill/>
        </p:spPr>
        <p:txBody>
          <a:bodyPr wrap="none">
            <a:spAutoFit/>
          </a:bodyPr>
          <a:lstStyle/>
          <a:p>
            <a:pPr algn="r"/>
            <a:r>
              <a:rPr sz="900" b="0">
                <a:solidFill>
                  <a:srgbClr val="94A3B8"/>
                </a:solidFill>
                <a:latin typeface="Arial"/>
              </a:rPr>
              <a:t>5/8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9392"/>
            <a:ext cx="8297913" cy="523220"/>
          </a:xfrm>
          <a:prstGeom prst="rect">
            <a:avLst/>
          </a:prstGeom>
          <a:noFill/>
        </p:spPr>
        <p:txBody>
          <a:bodyPr wrap="none">
            <a:spAutoFit/>
          </a:bodyPr>
          <a:lstStyle/>
          <a:p>
            <a:pPr algn="l"/>
            <a:r>
              <a:rPr sz="2800" b="1" i="1" dirty="0">
                <a:solidFill>
                  <a:schemeClr val="bg1"/>
                </a:solidFill>
                <a:latin typeface="+mj-lt"/>
              </a:rPr>
              <a:t>5. </a:t>
            </a:r>
            <a:r>
              <a:rPr sz="2800" b="1" i="1" dirty="0" err="1">
                <a:solidFill>
                  <a:schemeClr val="bg1"/>
                </a:solidFill>
                <a:latin typeface="+mj-lt"/>
              </a:rPr>
              <a:t>Resultados</a:t>
            </a:r>
            <a:r>
              <a:rPr sz="2800" b="1" i="1" dirty="0">
                <a:solidFill>
                  <a:schemeClr val="bg1"/>
                </a:solidFill>
                <a:latin typeface="+mj-lt"/>
              </a:rPr>
              <a:t> de</a:t>
            </a:r>
            <a:r>
              <a:rPr lang="es-MX" sz="2800" b="1" i="1" dirty="0">
                <a:solidFill>
                  <a:schemeClr val="bg1"/>
                </a:solidFill>
                <a:latin typeface="+mj-lt"/>
              </a:rPr>
              <a:t> Identificación de Operadores Ineficaces</a:t>
            </a:r>
            <a:endParaRPr sz="2800" b="1" i="1" dirty="0">
              <a:solidFill>
                <a:schemeClr val="bg1"/>
              </a:solidFill>
              <a:latin typeface="+mj-lt"/>
            </a:endParaRPr>
          </a:p>
        </p:txBody>
      </p:sp>
      <p:sp>
        <p:nvSpPr>
          <p:cNvPr id="3" name="TextBox 2"/>
          <p:cNvSpPr txBox="1"/>
          <p:nvPr/>
        </p:nvSpPr>
        <p:spPr>
          <a:xfrm>
            <a:off x="640079" y="1088925"/>
            <a:ext cx="10431043" cy="4950073"/>
          </a:xfrm>
          <a:prstGeom prst="rect">
            <a:avLst/>
          </a:prstGeom>
          <a:noFill/>
        </p:spPr>
        <p:txBody>
          <a:bodyPr wrap="square">
            <a:spAutoFit/>
          </a:bodyPr>
          <a:lstStyle/>
          <a:p>
            <a:r>
              <a:rPr lang="es-MX" sz="2400" b="1" i="1" dirty="0">
                <a:solidFill>
                  <a:schemeClr val="bg1"/>
                </a:solidFill>
              </a:rPr>
              <a:t>Resultados Tipo de Operador</a:t>
            </a:r>
          </a:p>
          <a:p>
            <a:r>
              <a:rPr lang="es-MX" sz="2000" i="1" dirty="0">
                <a:solidFill>
                  <a:schemeClr val="bg1"/>
                </a:solidFill>
              </a:rPr>
              <a:t>Los operadores mixtos concentraron la mayor proporción de operadores ineficaces, con 61.45 %, seguidos por los operadores solo salientes (20.28 %) y solo entrantes (18.27 %).</a:t>
            </a:r>
          </a:p>
          <a:p>
            <a:endParaRPr lang="es-MX" sz="2400" b="1" i="1" dirty="0">
              <a:solidFill>
                <a:schemeClr val="bg1"/>
              </a:solidFill>
            </a:endParaRPr>
          </a:p>
          <a:p>
            <a:r>
              <a:rPr lang="es-MX" sz="2400" b="1" i="1" dirty="0">
                <a:solidFill>
                  <a:schemeClr val="bg1"/>
                </a:solidFill>
              </a:rPr>
              <a:t>Resultados Clasificación</a:t>
            </a:r>
          </a:p>
          <a:p>
            <a:r>
              <a:rPr lang="es-MX" sz="2000" i="1" dirty="0">
                <a:solidFill>
                  <a:schemeClr val="bg1"/>
                </a:solidFill>
              </a:rPr>
              <a:t>Clasificación de acuerdo a los criterios aplicables a cada tipo de operador:</a:t>
            </a:r>
          </a:p>
          <a:p>
            <a:pPr marL="717550" indent="-176213">
              <a:spcBef>
                <a:spcPts val="100"/>
              </a:spcBef>
              <a:spcAft>
                <a:spcPts val="100"/>
              </a:spcAft>
              <a:buFont typeface="Arial" panose="020B0604020202020204" pitchFamily="34" charset="0"/>
              <a:buChar char="•"/>
            </a:pPr>
            <a:r>
              <a:rPr lang="es-MX" sz="2000" b="1" i="1" dirty="0">
                <a:solidFill>
                  <a:schemeClr val="bg1"/>
                </a:solidFill>
              </a:rPr>
              <a:t>Operadores mixtos</a:t>
            </a:r>
            <a:r>
              <a:rPr lang="es-MX" i="1" dirty="0">
                <a:solidFill>
                  <a:schemeClr val="bg1"/>
                </a:solidFill>
              </a:rPr>
              <a:t>: 0 criterios → Desempeño Esperado; 1 → Bajo; 2 → Deficiente; 3 → Crítico. </a:t>
            </a:r>
          </a:p>
          <a:p>
            <a:pPr marL="717550" indent="-176213">
              <a:spcBef>
                <a:spcPts val="100"/>
              </a:spcBef>
              <a:spcAft>
                <a:spcPts val="100"/>
              </a:spcAft>
              <a:buFont typeface="Arial" panose="020B0604020202020204" pitchFamily="34" charset="0"/>
              <a:buChar char="•"/>
            </a:pPr>
            <a:r>
              <a:rPr lang="es-MX" sz="2000" b="1" i="1" dirty="0">
                <a:solidFill>
                  <a:schemeClr val="bg1"/>
                </a:solidFill>
              </a:rPr>
              <a:t>Solo entrantes</a:t>
            </a:r>
            <a:r>
              <a:rPr lang="es-MX" i="1" dirty="0">
                <a:solidFill>
                  <a:schemeClr val="bg1"/>
                </a:solidFill>
              </a:rPr>
              <a:t>: 0 criterios → Desempeño Esperado; 1 → Bajo; 2 → Deficiente. </a:t>
            </a:r>
          </a:p>
          <a:p>
            <a:pPr marL="717550" indent="-176213">
              <a:spcBef>
                <a:spcPts val="100"/>
              </a:spcBef>
              <a:spcAft>
                <a:spcPts val="100"/>
              </a:spcAft>
              <a:buFont typeface="Arial" panose="020B0604020202020204" pitchFamily="34" charset="0"/>
              <a:buChar char="•"/>
            </a:pPr>
            <a:r>
              <a:rPr lang="es-MX" sz="2000" b="1" i="1" dirty="0">
                <a:solidFill>
                  <a:schemeClr val="bg1"/>
                </a:solidFill>
              </a:rPr>
              <a:t>Solo salientes</a:t>
            </a:r>
            <a:r>
              <a:rPr lang="es-MX" i="1" dirty="0">
                <a:solidFill>
                  <a:schemeClr val="bg1"/>
                </a:solidFill>
              </a:rPr>
              <a:t>: 0 criterios → Desempeño Esperado; 1 criterio → Desempeño Deficiente.</a:t>
            </a:r>
          </a:p>
          <a:p>
            <a:pPr marL="541337">
              <a:spcBef>
                <a:spcPts val="100"/>
              </a:spcBef>
              <a:spcAft>
                <a:spcPts val="100"/>
              </a:spcAft>
            </a:pPr>
            <a:endParaRPr lang="es-MX" sz="2000" b="1" i="1" dirty="0">
              <a:solidFill>
                <a:schemeClr val="bg1"/>
              </a:solidFill>
            </a:endParaRPr>
          </a:p>
          <a:p>
            <a:pPr>
              <a:spcBef>
                <a:spcPts val="100"/>
              </a:spcBef>
              <a:spcAft>
                <a:spcPts val="100"/>
              </a:spcAft>
            </a:pPr>
            <a:r>
              <a:rPr lang="es-MX" sz="2400" b="1" i="1" dirty="0">
                <a:solidFill>
                  <a:schemeClr val="bg1"/>
                </a:solidFill>
              </a:rPr>
              <a:t>Resultados Generales de la Clasificación</a:t>
            </a:r>
          </a:p>
          <a:p>
            <a:pPr marL="354013" algn="l">
              <a:spcBef>
                <a:spcPts val="800"/>
              </a:spcBef>
              <a:spcAft>
                <a:spcPts val="800"/>
              </a:spcAft>
            </a:pPr>
            <a:r>
              <a:rPr i="1" dirty="0">
                <a:solidFill>
                  <a:schemeClr val="bg1"/>
                </a:solidFill>
              </a:rPr>
              <a:t>594 desempeño </a:t>
            </a:r>
            <a:r>
              <a:rPr i="1" dirty="0" err="1">
                <a:solidFill>
                  <a:schemeClr val="bg1"/>
                </a:solidFill>
              </a:rPr>
              <a:t>esperado</a:t>
            </a:r>
            <a:r>
              <a:rPr i="1" dirty="0">
                <a:solidFill>
                  <a:schemeClr val="bg1"/>
                </a:solidFill>
              </a:rPr>
              <a:t> · 305 desempeño bajo · 191 desempeño </a:t>
            </a:r>
            <a:r>
              <a:rPr i="1" dirty="0" err="1">
                <a:solidFill>
                  <a:schemeClr val="bg1"/>
                </a:solidFill>
              </a:rPr>
              <a:t>deficiente</a:t>
            </a:r>
            <a:r>
              <a:rPr i="1" dirty="0">
                <a:solidFill>
                  <a:schemeClr val="bg1"/>
                </a:solidFill>
              </a:rPr>
              <a:t> · 2 desempeño </a:t>
            </a:r>
            <a:r>
              <a:rPr i="1" dirty="0" err="1">
                <a:solidFill>
                  <a:schemeClr val="bg1"/>
                </a:solidFill>
              </a:rPr>
              <a:t>crítico</a:t>
            </a:r>
            <a:r>
              <a:rPr i="1" dirty="0">
                <a:solidFill>
                  <a:schemeClr val="bg1"/>
                </a:solidFill>
              </a:rPr>
              <a:t>.</a:t>
            </a:r>
            <a:endParaRPr lang="es-MX" sz="2000" b="1" i="1" dirty="0">
              <a:solidFill>
                <a:schemeClr val="bg1"/>
              </a:solidFill>
            </a:endParaRPr>
          </a:p>
          <a:p>
            <a:pPr algn="l" defTabSz="179388"/>
            <a:r>
              <a:rPr lang="es-MX" sz="2000" i="1" dirty="0">
                <a:solidFill>
                  <a:schemeClr val="bg1"/>
                </a:solidFill>
              </a:rPr>
              <a:t>Es decir el </a:t>
            </a:r>
            <a:r>
              <a:rPr sz="2000" i="1" dirty="0">
                <a:solidFill>
                  <a:schemeClr val="bg1"/>
                </a:solidFill>
              </a:rPr>
              <a:t>54.4% </a:t>
            </a:r>
            <a:r>
              <a:rPr lang="es-MX" sz="2000" i="1" dirty="0">
                <a:solidFill>
                  <a:schemeClr val="bg1"/>
                </a:solidFill>
              </a:rPr>
              <a:t>de los operadores tiene un desempeño e</a:t>
            </a:r>
            <a:r>
              <a:rPr sz="2000" i="1" dirty="0" err="1">
                <a:solidFill>
                  <a:schemeClr val="bg1"/>
                </a:solidFill>
              </a:rPr>
              <a:t>sperado</a:t>
            </a:r>
            <a:r>
              <a:rPr sz="2000" i="1" dirty="0">
                <a:solidFill>
                  <a:schemeClr val="bg1"/>
                </a:solidFill>
              </a:rPr>
              <a:t> y </a:t>
            </a:r>
            <a:r>
              <a:rPr lang="es-MX" sz="2000" i="1" dirty="0">
                <a:solidFill>
                  <a:schemeClr val="bg1"/>
                </a:solidFill>
              </a:rPr>
              <a:t>el </a:t>
            </a:r>
            <a:r>
              <a:rPr sz="2000" i="1" dirty="0">
                <a:solidFill>
                  <a:schemeClr val="bg1"/>
                </a:solidFill>
              </a:rPr>
              <a:t>45.6% </a:t>
            </a:r>
            <a:r>
              <a:rPr lang="es-MX" sz="2000" i="1" dirty="0">
                <a:solidFill>
                  <a:schemeClr val="bg1"/>
                </a:solidFill>
              </a:rPr>
              <a:t>tiene </a:t>
            </a:r>
            <a:r>
              <a:rPr sz="2000" i="1" dirty="0" err="1">
                <a:solidFill>
                  <a:schemeClr val="bg1"/>
                </a:solidFill>
              </a:rPr>
              <a:t>algún</a:t>
            </a:r>
            <a:r>
              <a:rPr sz="2000" i="1" dirty="0">
                <a:solidFill>
                  <a:schemeClr val="bg1"/>
                </a:solidFill>
              </a:rPr>
              <a:t> </a:t>
            </a:r>
            <a:r>
              <a:rPr sz="2000" i="1" dirty="0" err="1">
                <a:solidFill>
                  <a:schemeClr val="bg1"/>
                </a:solidFill>
              </a:rPr>
              <a:t>nivel</a:t>
            </a:r>
            <a:r>
              <a:rPr sz="2000" i="1" dirty="0">
                <a:solidFill>
                  <a:schemeClr val="bg1"/>
                </a:solidFill>
              </a:rPr>
              <a:t> de desempeño inferior</a:t>
            </a:r>
            <a:r>
              <a:rPr lang="es-MX" sz="2000" i="1" dirty="0">
                <a:solidFill>
                  <a:schemeClr val="bg1"/>
                </a:solidFill>
              </a:rPr>
              <a:t> al esperado.</a:t>
            </a:r>
            <a:endParaRPr sz="2000" i="1" dirty="0">
              <a:solidFill>
                <a:schemeClr val="bg1"/>
              </a:solidFill>
            </a:endParaRPr>
          </a:p>
        </p:txBody>
      </p:sp>
      <p:sp>
        <p:nvSpPr>
          <p:cNvPr id="4" name="TextBox 3"/>
          <p:cNvSpPr txBox="1"/>
          <p:nvPr/>
        </p:nvSpPr>
        <p:spPr>
          <a:xfrm>
            <a:off x="10972800" y="6446520"/>
            <a:ext cx="548640" cy="228600"/>
          </a:xfrm>
          <a:prstGeom prst="rect">
            <a:avLst/>
          </a:prstGeom>
          <a:noFill/>
        </p:spPr>
        <p:txBody>
          <a:bodyPr wrap="none">
            <a:spAutoFit/>
          </a:bodyPr>
          <a:lstStyle/>
          <a:p>
            <a:pPr algn="r"/>
            <a:r>
              <a:rPr sz="900" b="0">
                <a:solidFill>
                  <a:srgbClr val="94A3B8"/>
                </a:solidFill>
                <a:latin typeface="Arial"/>
              </a:rPr>
              <a:t>6/8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48553"/>
            <a:ext cx="3745064" cy="523220"/>
          </a:xfrm>
          <a:prstGeom prst="rect">
            <a:avLst/>
          </a:prstGeom>
          <a:noFill/>
        </p:spPr>
        <p:txBody>
          <a:bodyPr wrap="none">
            <a:spAutoFit/>
          </a:bodyPr>
          <a:lstStyle/>
          <a:p>
            <a:pPr algn="l"/>
            <a:r>
              <a:rPr sz="2800" b="1" i="1" dirty="0">
                <a:solidFill>
                  <a:schemeClr val="bg1"/>
                </a:solidFill>
                <a:latin typeface="+mj-lt"/>
              </a:rPr>
              <a:t>6. </a:t>
            </a:r>
            <a:r>
              <a:rPr sz="2800" b="1" i="1" dirty="0" err="1">
                <a:solidFill>
                  <a:schemeClr val="bg1"/>
                </a:solidFill>
                <a:latin typeface="+mj-lt"/>
              </a:rPr>
              <a:t>Comparación</a:t>
            </a:r>
            <a:r>
              <a:rPr sz="2800" b="1" i="1" dirty="0">
                <a:solidFill>
                  <a:schemeClr val="bg1"/>
                </a:solidFill>
                <a:latin typeface="+mj-lt"/>
              </a:rPr>
              <a:t> </a:t>
            </a:r>
            <a:r>
              <a:rPr sz="2800" b="1" i="1" dirty="0" err="1">
                <a:solidFill>
                  <a:schemeClr val="bg1"/>
                </a:solidFill>
                <a:latin typeface="+mj-lt"/>
              </a:rPr>
              <a:t>estadística</a:t>
            </a:r>
            <a:endParaRPr sz="2800" b="1" i="1" dirty="0">
              <a:solidFill>
                <a:schemeClr val="bg1"/>
              </a:solidFill>
              <a:latin typeface="+mj-lt"/>
            </a:endParaRPr>
          </a:p>
        </p:txBody>
      </p:sp>
      <p:sp>
        <p:nvSpPr>
          <p:cNvPr id="3" name="TextBox 2"/>
          <p:cNvSpPr txBox="1"/>
          <p:nvPr/>
        </p:nvSpPr>
        <p:spPr>
          <a:xfrm>
            <a:off x="777241" y="1374058"/>
            <a:ext cx="10107069" cy="4093428"/>
          </a:xfrm>
          <a:prstGeom prst="rect">
            <a:avLst/>
          </a:prstGeom>
          <a:noFill/>
        </p:spPr>
        <p:txBody>
          <a:bodyPr wrap="square">
            <a:spAutoFit/>
          </a:bodyPr>
          <a:lstStyle/>
          <a:p>
            <a:r>
              <a:rPr lang="es-MX" sz="2000" i="1" dirty="0">
                <a:solidFill>
                  <a:schemeClr val="bg1"/>
                </a:solidFill>
              </a:rPr>
              <a:t>Se compararon dos grupos definidos previamente: operadores con Desempeño Esperado y operadores con desempeño inferior al esperado, con el objetivo de comparar su tiempo promedio de espera y su tasa de llamadas perdidas.</a:t>
            </a:r>
          </a:p>
          <a:p>
            <a:endParaRPr lang="es-MX" sz="2000" i="1" dirty="0">
              <a:solidFill>
                <a:schemeClr val="bg1"/>
              </a:solidFill>
            </a:endParaRPr>
          </a:p>
          <a:p>
            <a:r>
              <a:rPr lang="es-MX" sz="2000" i="1" dirty="0">
                <a:solidFill>
                  <a:schemeClr val="bg1"/>
                </a:solidFill>
              </a:rPr>
              <a:t>Primero se aplicó la prueba de Shapiro-Wilk para evaluar la normalidad de ambas métricas y determinar qué prueba estadística era adecuada.</a:t>
            </a:r>
          </a:p>
          <a:p>
            <a:endParaRPr lang="es-MX" sz="2000" i="1" dirty="0">
              <a:solidFill>
                <a:schemeClr val="bg1"/>
              </a:solidFill>
            </a:endParaRPr>
          </a:p>
          <a:p>
            <a:r>
              <a:rPr lang="es-MX" sz="2000" i="1" dirty="0">
                <a:solidFill>
                  <a:schemeClr val="bg1"/>
                </a:solidFill>
              </a:rPr>
              <a:t>Al no cumplir con el supuesto de normalidad, se utilizó la prueba Mann-Whitney U, que permitió comparar ambos grupos y determinar si las diferencias observadas eran estadísticamente significativas.</a:t>
            </a:r>
          </a:p>
          <a:p>
            <a:endParaRPr lang="es-MX" sz="2000" i="1" dirty="0">
              <a:solidFill>
                <a:schemeClr val="bg1"/>
              </a:solidFill>
            </a:endParaRPr>
          </a:p>
          <a:p>
            <a:r>
              <a:rPr lang="es-MX" sz="2000" i="1" dirty="0">
                <a:solidFill>
                  <a:schemeClr val="bg1"/>
                </a:solidFill>
              </a:rPr>
              <a:t>Los resultados mostraron diferencias estadísticamente significativas entre ambos grupos en ambas métricas. Dado que estas métricas forman parte de los criterios utilizados para construir la clasificación, la comparación no constituye una validación independiente de la metodología.</a:t>
            </a:r>
          </a:p>
        </p:txBody>
      </p:sp>
      <p:sp>
        <p:nvSpPr>
          <p:cNvPr id="4" name="TextBox 3"/>
          <p:cNvSpPr txBox="1"/>
          <p:nvPr/>
        </p:nvSpPr>
        <p:spPr>
          <a:xfrm>
            <a:off x="10972800" y="6446520"/>
            <a:ext cx="548640" cy="228600"/>
          </a:xfrm>
          <a:prstGeom prst="rect">
            <a:avLst/>
          </a:prstGeom>
          <a:noFill/>
        </p:spPr>
        <p:txBody>
          <a:bodyPr wrap="none">
            <a:spAutoFit/>
          </a:bodyPr>
          <a:lstStyle/>
          <a:p>
            <a:pPr algn="r"/>
            <a:r>
              <a:rPr sz="900" b="0">
                <a:solidFill>
                  <a:srgbClr val="94A3B8"/>
                </a:solidFill>
                <a:latin typeface="Arial"/>
              </a:rPr>
              <a:t>7/8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30566"/>
            <a:ext cx="5391091" cy="523220"/>
          </a:xfrm>
          <a:prstGeom prst="rect">
            <a:avLst/>
          </a:prstGeom>
          <a:noFill/>
        </p:spPr>
        <p:txBody>
          <a:bodyPr wrap="none">
            <a:spAutoFit/>
          </a:bodyPr>
          <a:lstStyle/>
          <a:p>
            <a:pPr algn="l"/>
            <a:r>
              <a:rPr sz="2800" b="1" i="1" dirty="0">
                <a:solidFill>
                  <a:schemeClr val="bg1"/>
                </a:solidFill>
                <a:latin typeface="+mj-lt"/>
              </a:rPr>
              <a:t>7. </a:t>
            </a:r>
            <a:r>
              <a:rPr sz="2800" b="1" i="1" dirty="0" err="1">
                <a:solidFill>
                  <a:schemeClr val="bg1"/>
                </a:solidFill>
                <a:latin typeface="+mj-lt"/>
              </a:rPr>
              <a:t>Conclusiones</a:t>
            </a:r>
            <a:r>
              <a:rPr sz="2800" b="1" i="1" dirty="0">
                <a:solidFill>
                  <a:schemeClr val="bg1"/>
                </a:solidFill>
                <a:latin typeface="+mj-lt"/>
              </a:rPr>
              <a:t> y </a:t>
            </a:r>
            <a:r>
              <a:rPr sz="2800" b="1" i="1" dirty="0" err="1">
                <a:solidFill>
                  <a:schemeClr val="bg1"/>
                </a:solidFill>
                <a:latin typeface="+mj-lt"/>
              </a:rPr>
              <a:t>recomendaciones</a:t>
            </a:r>
            <a:endParaRPr sz="2800" b="1" i="1" dirty="0">
              <a:solidFill>
                <a:schemeClr val="bg1"/>
              </a:solidFill>
              <a:latin typeface="+mj-lt"/>
            </a:endParaRPr>
          </a:p>
        </p:txBody>
      </p:sp>
      <p:sp>
        <p:nvSpPr>
          <p:cNvPr id="3" name="TextBox 2"/>
          <p:cNvSpPr txBox="1"/>
          <p:nvPr/>
        </p:nvSpPr>
        <p:spPr>
          <a:xfrm>
            <a:off x="777241" y="1059424"/>
            <a:ext cx="9979250" cy="5016758"/>
          </a:xfrm>
          <a:prstGeom prst="rect">
            <a:avLst/>
          </a:prstGeom>
          <a:noFill/>
        </p:spPr>
        <p:txBody>
          <a:bodyPr wrap="square">
            <a:spAutoFit/>
          </a:bodyPr>
          <a:lstStyle/>
          <a:p>
            <a:pPr marL="254000" indent="-254000">
              <a:buSzPct val="120000"/>
              <a:buFont typeface="Arial" panose="020B0604020202020204" pitchFamily="34" charset="0"/>
              <a:buChar char="•"/>
            </a:pPr>
            <a:r>
              <a:rPr lang="es-MX" sz="2000" b="1" i="1" dirty="0">
                <a:solidFill>
                  <a:schemeClr val="bg1"/>
                </a:solidFill>
              </a:rPr>
              <a:t>El análisis permitió desarrollar una metodología objetiva para identificar operadores con desempeño inferior al esperado, utilizando la tasa de llamadas perdidas, el tiempo de espera y la actividad de llamadas salientes, adaptadas a las funciones de cada operador.</a:t>
            </a:r>
          </a:p>
          <a:p>
            <a:pPr marL="254000" indent="-254000">
              <a:buSzPct val="120000"/>
              <a:buFont typeface="Arial" panose="020B0604020202020204" pitchFamily="34" charset="0"/>
              <a:buChar char="•"/>
            </a:pPr>
            <a:endParaRPr lang="es-MX" sz="2000" b="1" i="1" dirty="0">
              <a:solidFill>
                <a:schemeClr val="bg1"/>
              </a:solidFill>
            </a:endParaRPr>
          </a:p>
          <a:p>
            <a:pPr marL="254000" indent="-254000">
              <a:buSzPct val="120000"/>
              <a:buFont typeface="Arial" panose="020B0604020202020204" pitchFamily="34" charset="0"/>
              <a:buChar char="•"/>
            </a:pPr>
            <a:r>
              <a:rPr lang="es-MX" sz="2000" b="1" i="1" dirty="0">
                <a:solidFill>
                  <a:schemeClr val="bg1"/>
                </a:solidFill>
              </a:rPr>
              <a:t>De los 1,092 operadores analizados, el 54.4 % presentó un desempeño esperado, mientras que el 45.6 % presentó algún nivel de desempeño inferior al esperado. Los casos más severos fueron 191 operadores con desempeño deficiente y 2 con desempeño crítico.</a:t>
            </a:r>
          </a:p>
          <a:p>
            <a:pPr marL="254000" indent="-254000">
              <a:buSzPct val="120000"/>
              <a:buFont typeface="Arial" panose="020B0604020202020204" pitchFamily="34" charset="0"/>
              <a:buChar char="•"/>
            </a:pPr>
            <a:endParaRPr lang="es-MX" sz="2000" b="1" i="1" dirty="0">
              <a:solidFill>
                <a:schemeClr val="bg1"/>
              </a:solidFill>
            </a:endParaRPr>
          </a:p>
          <a:p>
            <a:pPr marL="254000" indent="-254000">
              <a:buSzPct val="120000"/>
              <a:buFont typeface="Arial" panose="020B0604020202020204" pitchFamily="34" charset="0"/>
              <a:buChar char="•"/>
            </a:pPr>
            <a:r>
              <a:rPr lang="es-MX" sz="2000" b="1" i="1" dirty="0">
                <a:solidFill>
                  <a:schemeClr val="bg1"/>
                </a:solidFill>
              </a:rPr>
              <a:t>Las pruebas estadísticas mostraron diferencias significativas entre operadores con Desempeño Esperado y desempeño inferior al esperado tanto en el tiempo promedio de espera como en la tasa de llamadas perdidas. Dado que estas métricas forman parte de los criterios de clasificación, estos resultados se interpretan como una comparación entre grupos definidos previamente y no como una validación independiente de la metodología.</a:t>
            </a:r>
          </a:p>
          <a:p>
            <a:pPr marL="254000" indent="-254000">
              <a:buSzPct val="120000"/>
              <a:buFont typeface="Arial" panose="020B0604020202020204" pitchFamily="34" charset="0"/>
              <a:buChar char="•"/>
            </a:pPr>
            <a:endParaRPr lang="es-MX" sz="2000" b="1" i="1" dirty="0">
              <a:solidFill>
                <a:schemeClr val="bg1"/>
              </a:solidFill>
            </a:endParaRPr>
          </a:p>
          <a:p>
            <a:pPr marL="254000" indent="-254000">
              <a:buSzPct val="120000"/>
              <a:buFont typeface="Arial" panose="020B0604020202020204" pitchFamily="34" charset="0"/>
              <a:buChar char="•"/>
            </a:pPr>
            <a:r>
              <a:rPr lang="es-MX" sz="2000" b="1" i="1" dirty="0">
                <a:solidFill>
                  <a:schemeClr val="bg1"/>
                </a:solidFill>
              </a:rPr>
              <a:t>En conjunto, los resultados muestran que la metodología permite detectar de manera objetiva a los operadores que requieren seguimiento y apoyar la toma de decisiones para mejorar la eficiencia operativa.</a:t>
            </a:r>
          </a:p>
          <a:p>
            <a:pPr marL="342900" indent="-342900" algn="l">
              <a:buSzPct val="120000"/>
              <a:buFont typeface="Arial" panose="020B0604020202020204" pitchFamily="34" charset="0"/>
              <a:buChar char="•"/>
            </a:pPr>
            <a:endParaRPr lang="es-MX" sz="2000" b="1" i="1" dirty="0">
              <a:solidFill>
                <a:schemeClr val="bg1"/>
              </a:solidFill>
            </a:endParaRPr>
          </a:p>
        </p:txBody>
      </p:sp>
      <p:sp>
        <p:nvSpPr>
          <p:cNvPr id="4" name="TextBox 3"/>
          <p:cNvSpPr txBox="1"/>
          <p:nvPr/>
        </p:nvSpPr>
        <p:spPr>
          <a:xfrm>
            <a:off x="10972800" y="6446520"/>
            <a:ext cx="548640" cy="228600"/>
          </a:xfrm>
          <a:prstGeom prst="rect">
            <a:avLst/>
          </a:prstGeom>
          <a:noFill/>
        </p:spPr>
        <p:txBody>
          <a:bodyPr wrap="none">
            <a:spAutoFit/>
          </a:bodyPr>
          <a:lstStyle/>
          <a:p>
            <a:pPr algn="r"/>
            <a:r>
              <a:rPr sz="900" b="0">
                <a:solidFill>
                  <a:srgbClr val="94A3B8"/>
                </a:solidFill>
                <a:latin typeface="Arial"/>
              </a:rPr>
              <a:t>8/8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286</TotalTime>
  <Words>896</Words>
  <Application>Microsoft Office PowerPoint</Application>
  <PresentationFormat>Panorámica</PresentationFormat>
  <Paragraphs>87</Paragraphs>
  <Slides>8</Slides>
  <Notes>1</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8</vt:i4>
      </vt:variant>
    </vt:vector>
  </HeadingPairs>
  <TitlesOfParts>
    <vt:vector size="11"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keywords/>
  <dc:description>generated using python-pptx</dc:description>
  <cp:lastModifiedBy>ADN27 N</cp:lastModifiedBy>
  <cp:revision>3</cp:revision>
  <dcterms:created xsi:type="dcterms:W3CDTF">2013-01-27T09:14:16Z</dcterms:created>
  <dcterms:modified xsi:type="dcterms:W3CDTF">2026-08-19T05:47:38Z</dcterms:modified>
  <cp:category/>
</cp:coreProperties>
</file>